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 Workshop。今天大约 60-90 分钟，讲三件事：(1) 你们当前测试自动化的真实痛点；(2) 我们的解法三件套 + 5 分钟可跑 demo；(3) 框架视角与下一步两条落地路径。目标不是讲完整理论，是让你们带回去能立刻用的东西。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先看痛点。这部分关键是让大家承认"我们的状态确实有问题"——这样后面才有动力听解法。如果客户说"我们没痛点"，就直接跳到 Section 3 讲框架。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demo 实测数字（非 mock）。重点：行覆盖率 96% 是漂亮的假象，mutation 64% 才是真实的测试有效率。右边的根因引自黄卓斌 AIDLC 讲稿 Q2——不是 AI 不会写测试，是"Agent 自评总是过于乐观"（Anthropic demystifying-evals 原话）。提问：你们现在 PR review 看不看 mutation score？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不论用什么方案，PLAN-0 是底座。重点强调右栏第 4 条 Trust-then-Verify Gap 标了 ★——今天讨论的所有内容都围绕这一条。其他 4 个失败模式作为 reading list 提一下即可。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进入解法。开场强调一句："不是再造一套方法论，是 3 个文件级改动"——降低客户的预期投入感。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三件套是配合关系不是叠加。① 让 AI 写测试 / ② 让测试覆盖完整 / ③ 让测试不是水的。底部橙色总结条是关键："不阻拦工程师写代码 — 全是写完之后的反馈"。这是和别家方案最大的差异。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这页让客户放心：开发者敲的命令和裸 OpenSpec 完全一样（左栏 3 条）。右栏的展开是 Claude Code 自动跑，工程师不用学新东西。常见疑问："Task 5 失败循环回 Task 4 会不会陷入死循环？"——答：tasks.md 里设循环上限（一般 2-3 轮），到上限报告 PR 让人看。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杀手页，停 3 分钟。重点对比左右两列"看似可合并 vs 真实可合并"。如果客户问"是真实数据还是 mock"，老实回答：这是构造的小例子用真工具跑出的真数字（illustration）。下一步可以拉你们真实 OpenSpec change 跑一遍出客户专属基准。配合 ~/sdd-demo/ 现场跑命令更震撼。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进入框架视角。这部分相对短，定位是 reading list："如果想深挖，这两页给你方向"。客户没兴趣可以快速跳过。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框架是从 7 个产品反推的，不是我们拍脑袋。不要花时间讲完 9 件套，重点 Tier 1 第 ③ Observability——三件套就在这个位置。Tier 2 的 Cost / Rollback 是 cookbook 后续章节的路线图。Tier 3 的 Identity / Isolation 是车企合规场景必需，提一下让客户知道我们考虑过。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161K stars 在 3 个月内长出来 = 社会证明。重点说"它定位为 agent harness performance optimization system，自带 harness 这个词"。8 个技术手段是 cookbook 后续章节的素材库。给客户两条路：① 直接 fork ECC（省 200 小时）；② 跟我们 cookbook 渐进。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这页配合上一页用——上页讲 ECC 是什么，这页直观看 ECC 长什么样。8 层都点一下，重点亮的 3 层（Hooks ★ / Capability ★ / 治理 ★）是企业落地最值钱的部分。客户看完这页大概率会理解："自建成本太高，fork 是合理选择"。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不要纠结这次会议能定多少。最低承诺是 Week 1 三步——改 AGENTS.md / 装 subagent / 装 stryker，~30 行配置。问 3 个 follow-up 问题：(1) 你们现在哪个 OpenSpec change 适合做"客户专属基准"？(2) 谁是 tech lead 负责这次试点？(3) 下次会议时间？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11375"/>
            <a:ext cx="718430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SDD</a:t>
            </a:r>
            <a:endParaRPr lang="en-US" sz="3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测试自动化与 Harness Engineering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000" y="2908250"/>
            <a:ext cx="71843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给极氪智能助手团队的 Workshop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3730526"/>
            <a:ext cx="7184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5 分钟可演示 demo 到完整落地路径 — 三件套 + Cookbook + ECC + v2 框架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03504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0" y="822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智能助手团队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8105" y="1750963"/>
            <a:ext cx="36077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68105" y="2112913"/>
            <a:ext cx="360779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客户痛点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4050" y="2903488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68105" y="3144738"/>
            <a:ext cx="3607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apply 完代码后，自动测试不到位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现状：覆盖率漂亮，QA 还是抓 Bug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36575"/>
            <a:ext cx="1854250" cy="1028402"/>
          </a:xfrm>
          <a:prstGeom prst="roundRect">
            <a:avLst>
              <a:gd name="adj" fmla="val 741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936575"/>
            <a:ext cx="0" cy="1028402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850" y="1114276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850" y="1463427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行覆盖率（看起来很美）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5350" y="936575"/>
            <a:ext cx="1854250" cy="1028402"/>
          </a:xfrm>
          <a:prstGeom prst="roundRect">
            <a:avLst>
              <a:gd name="adj" fmla="val 741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84400" y="936575"/>
            <a:ext cx="0" cy="1028402"/>
          </a:xfrm>
          <a:prstGeom prst="line">
            <a:avLst/>
          </a:prstGeom>
          <a:noFill/>
          <a:ln w="38100">
            <a:solidFill>
              <a:srgbClr val="FF7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6601" y="1114276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06601" y="1463427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真实测试有效率（mutation）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066479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066479"/>
            <a:ext cx="0" cy="866477"/>
          </a:xfrm>
          <a:prstGeom prst="line">
            <a:avLst/>
          </a:prstGeom>
          <a:noFill/>
          <a:ln w="38100">
            <a:solidFill>
              <a:srgbClr val="FF7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850" y="224417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0850" y="2593330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潜伏的真实 bug 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5350" y="2066479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84400" y="2066479"/>
            <a:ext cx="0" cy="866477"/>
          </a:xfrm>
          <a:prstGeom prst="line">
            <a:avLst/>
          </a:prstGeom>
          <a:noFill/>
          <a:ln w="38100">
            <a:solidFill>
              <a:srgbClr val="FF7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6601" y="224417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06601" y="2593330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阶段返工率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034457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3034457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850" y="3212157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850" y="3561308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自动写的测试数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5350" y="3034457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84400" y="3034457"/>
            <a:ext cx="0" cy="866477"/>
          </a:xfrm>
          <a:prstGeom prst="line">
            <a:avLst/>
          </a:prstGeom>
          <a:noFill/>
          <a:ln w="38100">
            <a:solidFill>
              <a:srgbClr val="FF70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6601" y="3212157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806601" y="3561308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覆盖到的边界异常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5002" y="987326"/>
            <a:ext cx="38345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根因（黄卓斌 AIDLC Q2）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5002" y="1323826"/>
            <a:ext cx="3759398" cy="125759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apply 阶段只写 happy path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行覆盖率虚高：每行执行过 ≠ 每个分支被验证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 Generator-Evaluator 反馈循环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 自评总是过于乐观"</a:t>
            </a:r>
            <a:endParaRPr lang="en-US" sz="1100" dirty="0"/>
          </a:p>
          <a:p>
            <a:pPr algn="l" marL="101600" indent="-1016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成为 AI 速度的瓶颈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不可绕过的底座：PLAN-0 + 5 个失败模式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PLAN-0 — Anthropic 官方四步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282601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384102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Explore（Plan Mode）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62222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读文件、提问，不改代码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959918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061418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Plan（Plan Mode）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229954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写详细实现方案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637234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738735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Implement（Normal Mode）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2976860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边写边验证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3314551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416052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3606552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描述性的 commit message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944243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000" y="4045744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最高杠杆点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2000" y="4283869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Claude a way to verify its work"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44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44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个失败模式（任何方案都要防）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4400" y="1282601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800" y="1384102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Kitchen Sink Sessions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6800" y="1574602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混杂任务污染 context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4400" y="1912293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6800" y="2013793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Repetitive Corrections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6800" y="220429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反复纠正同一错误（≥2 次必 reset）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24400" y="2541984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6800" y="2643485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Bloated Specs / CLAUDE.md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6800" y="2833985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规范膨胀，关键约束被淹没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4400" y="3171676"/>
            <a:ext cx="3810000" cy="610642"/>
          </a:xfrm>
          <a:prstGeom prst="roundRect">
            <a:avLst>
              <a:gd name="adj" fmla="val 831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6800" y="3273177"/>
            <a:ext cx="35753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Trust-then-Verify Gap 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6800" y="352082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没验证就信任 — 测试痛点根源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4400" y="3858518"/>
            <a:ext cx="3810000" cy="553492"/>
          </a:xfrm>
          <a:prstGeom prst="roundRect">
            <a:avLst>
              <a:gd name="adj" fmla="val 917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6800" y="3960019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Infinite Exploration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76800" y="4150519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不进入 Implement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3084" y="1750963"/>
            <a:ext cx="53778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83084" y="2112913"/>
            <a:ext cx="537783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解法：测试三件套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4050" y="2903488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83084" y="3144738"/>
            <a:ext cx="53778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tasks 模板 + test-evaluator subagent + Stryker mutation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三件套总览：零摩擦、全反馈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85825"/>
            <a:ext cx="2539901" cy="1479500"/>
          </a:xfrm>
          <a:prstGeom prst="roundRect">
            <a:avLst>
              <a:gd name="adj" fmla="val 343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895350"/>
            <a:ext cx="2539901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1057275"/>
            <a:ext cx="2228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OpenSpec AGENTS.md 模板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7301" y="1343025"/>
            <a:ext cx="22281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tasks.md 强制 5 步：implement → test-write → test-run → evaluator → mutation。改 markdown，不改基础设施。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7301" y="1984325"/>
            <a:ext cx="1484561" cy="228600"/>
          </a:xfrm>
          <a:prstGeom prst="roundRect">
            <a:avLst>
              <a:gd name="adj" fmla="val 11111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2022425"/>
            <a:ext cx="1307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立即让 AI apply 自动写测试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01901" y="885825"/>
            <a:ext cx="2540050" cy="1479500"/>
          </a:xfrm>
          <a:prstGeom prst="roundRect">
            <a:avLst>
              <a:gd name="adj" fmla="val 343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8953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602" y="1057275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test-evaluator subagent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9602" y="1343025"/>
            <a:ext cx="22283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 context 评审 Generator 写的测试，列分支/异常/边界，专补 edge case。Generator-Evaluator 分离防乐观。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9602" y="1984325"/>
            <a:ext cx="1492597" cy="228600"/>
          </a:xfrm>
          <a:prstGeom prst="roundRect">
            <a:avLst>
              <a:gd name="adj" fmla="val 11111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81102" y="2022425"/>
            <a:ext cx="13153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 3 → 21，覆盖矩阵化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94350" y="885825"/>
            <a:ext cx="2540050" cy="1479500"/>
          </a:xfrm>
          <a:prstGeom prst="roundRect">
            <a:avLst>
              <a:gd name="adj" fmla="val 343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4350" y="895350"/>
            <a:ext cx="254005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051" y="1057275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Stryker Mutation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051" y="1343025"/>
            <a:ext cx="22283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故意改坏代码看测试能否发现。比行覆盖率准 10 倍。失败时 AI 自动循环回 ② 补测试。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051" y="1984325"/>
            <a:ext cx="1356420" cy="228600"/>
          </a:xfrm>
          <a:prstGeom prst="roundRect">
            <a:avLst>
              <a:gd name="adj" fmla="val 11111"/>
            </a:avLst>
          </a:prstGeom>
          <a:solidFill>
            <a:srgbClr val="0EEDA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3552" y="2022425"/>
            <a:ext cx="1176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揭穿水测试 + 暴露死代码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600" y="2517577"/>
            <a:ext cx="7924800" cy="434876"/>
          </a:xfrm>
          <a:prstGeom prst="rect">
            <a:avLst/>
          </a:prstGeom>
          <a:solidFill>
            <a:srgbClr val="FF99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8650" y="2517577"/>
            <a:ext cx="0" cy="434876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850" y="2644527"/>
            <a:ext cx="76300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核心：不阻拦工程师写代码 — 全是写完之后的反馈。一周内可上，~30 行配置改动。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开发者视角：命令一行不变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开发者实际敲的命令（3 条）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282601"/>
            <a:ext cx="3810000" cy="582067"/>
          </a:xfrm>
          <a:prstGeom prst="roundRect">
            <a:avLst>
              <a:gd name="adj" fmla="val 872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384102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/opsx:propose "需求"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2000" y="160317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秒生成 proposal/specs/tasks（自动 5 步任务）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940868"/>
            <a:ext cx="3810000" cy="543967"/>
          </a:xfrm>
          <a:prstGeom prst="roundRect">
            <a:avLst>
              <a:gd name="adj" fmla="val 933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042368"/>
            <a:ext cx="357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/opsx:apply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2000" y="222334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自动跑完 5 步闭环（5–15 分钟）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561034"/>
            <a:ext cx="3810000" cy="543967"/>
          </a:xfrm>
          <a:prstGeom prst="roundRect">
            <a:avLst>
              <a:gd name="adj" fmla="val 933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662535"/>
            <a:ext cx="357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/opsx:archive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2000" y="2843510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merge 后归档 spec 成 SSOT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3181201"/>
            <a:ext cx="3810000" cy="582067"/>
          </a:xfrm>
          <a:prstGeom prst="roundRect">
            <a:avLst>
              <a:gd name="adj" fmla="val 872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282702"/>
            <a:ext cx="3575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体感：和裸 OpenSpec 完全一样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350177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不用学新命令、不用记新步骤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4400" y="1171575"/>
            <a:ext cx="3810000" cy="0"/>
          </a:xfrm>
          <a:prstGeom prst="line">
            <a:avLst/>
          </a:prstGeom>
          <a:noFill/>
          <a:ln w="19050">
            <a:solidFill>
              <a:srgbClr val="0EED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400" y="8858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阶段内部展开（自动）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4400" y="1282601"/>
            <a:ext cx="3810000" cy="543967"/>
          </a:xfrm>
          <a:prstGeom prst="roundRect">
            <a:avLst>
              <a:gd name="adj" fmla="val 933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1384102"/>
            <a:ext cx="357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implement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6800" y="156507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Agent 写 src/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4400" y="1902768"/>
            <a:ext cx="3810000" cy="543967"/>
          </a:xfrm>
          <a:prstGeom prst="roundRect">
            <a:avLst>
              <a:gd name="adj" fmla="val 933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800" y="2004268"/>
            <a:ext cx="357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test-write + Task 3 test-run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6800" y="2185243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写 happy path + 跑通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4400" y="2522934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6800" y="2624435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evaluator 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6800" y="2862560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test-evaluator subagent 独立 context 补测试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24400" y="3200251"/>
            <a:ext cx="3810000" cy="601117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6800" y="3301752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mutation 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76800" y="353987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 跑 → 不达标循环回 Task 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Demo：「打开 X 窗」意图识别器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7841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分钟可复现 — vitest + stryker 真跑出来的数字（非 mock）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1136600"/>
            <a:ext cx="3505200" cy="4006900"/>
          </a:xfrm>
          <a:prstGeom prst="roundRect">
            <a:avLst>
              <a:gd name="adj" fmla="val 21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155650"/>
            <a:ext cx="3505200" cy="0"/>
          </a:xfrm>
          <a:prstGeom prst="line">
            <a:avLst/>
          </a:prstGeom>
          <a:noFill/>
          <a:ln w="38100">
            <a:solidFill>
              <a:srgbClr val="FF7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01" y="1377851"/>
            <a:ext cx="305734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apply 完成（happy path）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3501" y="2414290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01" y="2127052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83211" y="2127052"/>
            <a:ext cx="792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3501" y="2807791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501" y="2520553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行覆盖率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7179" y="2520553"/>
            <a:ext cx="483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3501" y="3201293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501" y="2914055"/>
            <a:ext cx="6605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分支覆盖率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7179" y="2914055"/>
            <a:ext cx="483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3501" y="3566220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501" y="3307556"/>
            <a:ext cx="8710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7179" y="3307556"/>
            <a:ext cx="483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64.06%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3501" y="3959721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01" y="3672483"/>
            <a:ext cx="16086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存活 mutant（漏掉的 bug）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5523" y="3672483"/>
            <a:ext cx="1584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3501" y="4372273"/>
            <a:ext cx="29973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501" y="4065984"/>
            <a:ext cx="480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表象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48608" y="4065984"/>
            <a:ext cx="7265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看似可合并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70202" y="3020913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051" y="1136600"/>
            <a:ext cx="3505349" cy="4006900"/>
          </a:xfrm>
          <a:prstGeom prst="roundRect">
            <a:avLst>
              <a:gd name="adj" fmla="val 21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029051" y="1155650"/>
            <a:ext cx="3505349" cy="0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2952" y="1377851"/>
            <a:ext cx="30574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evaluator + mutation 闭环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82952" y="2414290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2952" y="2127052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25123" y="2127052"/>
            <a:ext cx="1584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82952" y="2807791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2952" y="2520553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行覆盖率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23312" y="2520553"/>
            <a:ext cx="364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82952" y="3201293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2952" y="2914055"/>
            <a:ext cx="6605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分支覆盖率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23312" y="2914055"/>
            <a:ext cx="364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82952" y="3566220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2952" y="3307556"/>
            <a:ext cx="8710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06779" y="3307556"/>
            <a:ext cx="483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92.19%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82952" y="3959721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2952" y="3672483"/>
            <a:ext cx="16363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存活 mutant（剩 = 死代码）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02811" y="3672483"/>
            <a:ext cx="792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82952" y="4372273"/>
            <a:ext cx="29975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2952" y="4065984"/>
            <a:ext cx="480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表象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68208" y="4065984"/>
            <a:ext cx="7265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真实可合并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9081" y="1750963"/>
            <a:ext cx="51258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009081" y="2112913"/>
            <a:ext cx="512583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框架视角与落地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4050" y="2903488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9081" y="3144738"/>
            <a:ext cx="51258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v2 + ECC 完整参考 + Cookbook 渐进路径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v2：3 + 4 + 2 分层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600" y="746075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7 个成熟产品（Anthropic/OpenAI/Google/AWS/LangGraph/CrewAI/Inngest）反推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9600" y="1028551"/>
            <a:ext cx="7924800" cy="641003"/>
          </a:xfrm>
          <a:prstGeom prst="roundRect">
            <a:avLst>
              <a:gd name="adj" fmla="val 792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1028551"/>
            <a:ext cx="0" cy="641003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5401" y="1130052"/>
            <a:ext cx="76819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普适必备（任何 Agent 都需要，3/3 厂商共识）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401" y="1390352"/>
            <a:ext cx="7681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State（持久化）　　② Capability（工具/MCP）　　③ Observability ← 我们三件套主战场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1771055"/>
            <a:ext cx="7924800" cy="641003"/>
          </a:xfrm>
          <a:prstGeom prst="roundRect">
            <a:avLst>
              <a:gd name="adj" fmla="val 792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1771055"/>
            <a:ext cx="0" cy="641003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1872555"/>
            <a:ext cx="76819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生产部署（多人/规模化必需）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401" y="2132856"/>
            <a:ext cx="7681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Governance（权限/guardrail）    ⑤ Multi-agent    ⑥ Cost    ⑦ Rollback（checkpoint/interrupt）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2513558"/>
            <a:ext cx="7924800" cy="641003"/>
          </a:xfrm>
          <a:prstGeom prst="roundRect">
            <a:avLst>
              <a:gd name="adj" fmla="val 792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2513558"/>
            <a:ext cx="0" cy="641003"/>
          </a:xfrm>
          <a:prstGeom prst="line">
            <a:avLst/>
          </a:prstGeom>
          <a:noFill/>
          <a:ln w="38100">
            <a:solidFill>
              <a:srgbClr val="BC0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401" y="2615059"/>
            <a:ext cx="76819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C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企业云原生（合规/多租户）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401" y="2875359"/>
            <a:ext cx="7681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Identity（per-user OAuth）    ⑨ Isolation（sandbox/microVM）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" y="3256062"/>
            <a:ext cx="7924800" cy="641003"/>
          </a:xfrm>
          <a:prstGeom prst="roundRect">
            <a:avLst>
              <a:gd name="adj" fmla="val 792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8650" y="3256062"/>
            <a:ext cx="0" cy="641003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401" y="3357563"/>
            <a:ext cx="76819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vs 旧 5 件套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5401" y="3617863"/>
            <a:ext cx="7681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Observability/Cost/Rollback/Identity/Isolation 5 件 — 用产品反推替代概念分类，Cleanup 取消独立件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— 当前最完整 Harness 参考实现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784175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github.com/affaan-m/everything-claude-code · v2 框架 9 件全中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9600" y="1117550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1117550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50" y="1295251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850" y="1644402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stars（3 月长出）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5350" y="1117550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84400" y="1117550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6601" y="1295251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6601" y="1644402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2085529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2085529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850" y="226322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850" y="2612380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专门 subagents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5350" y="2085529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84400" y="2085529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6601" y="2263229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06601" y="2612380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skills（按主题分类）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" y="3053507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650" y="3053507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850" y="3231207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0850" y="3580358"/>
            <a:ext cx="1438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5350" y="3053507"/>
            <a:ext cx="1854250" cy="866477"/>
          </a:xfrm>
          <a:prstGeom prst="roundRect">
            <a:avLst>
              <a:gd name="adj" fmla="val 879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84400" y="3053507"/>
            <a:ext cx="0" cy="866477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6601" y="3231207"/>
            <a:ext cx="14380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806601" y="3580358"/>
            <a:ext cx="1438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语言规则集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5002" y="1168301"/>
            <a:ext cx="38345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个值得抄的技术手段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5002" y="1504801"/>
            <a:ext cx="3759398" cy="17264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GateGuard Fact-Force（首次编辑前强制 Read）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Profile 分级（minimal/standard/strict）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Capture（secrets 自动归档）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 IDE 适配（一源出 5 IDE 配置）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选择性安装 + 状态追踪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Hook（模式捕获）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Worktrees 编排（并行 agent 隔离）</a:t>
            </a:r>
            <a:endParaRPr lang="en-US" sz="10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harness-audit 脚本（自查健康度）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8600"/>
            <a:ext cx="80832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8 层完整架构（一图速览）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600" y="6572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github.com/affaan-m/everything-claude-code · 161K★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955625"/>
            <a:ext cx="3873550" cy="954881"/>
          </a:xfrm>
          <a:prstGeom prst="roundRect">
            <a:avLst>
              <a:gd name="adj" fmla="val 3990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955625"/>
            <a:ext cx="0" cy="954881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50" y="1031825"/>
            <a:ext cx="3653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 元层 — 哲学/原则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4650" y="1238101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SOUL.md（Agent-First 哲学） · WORKING-CONTEXT · RULES.md（Must Always/Never）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973907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1973907"/>
            <a:ext cx="0" cy="95503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650" y="2050107"/>
            <a:ext cx="3653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入口 — 文档目录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4650" y="2256383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AGENTS.md（48 agent 索引） · CLAUDE.md（项目规范+slash 命令） · 8 个根级 .md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2992338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2992338"/>
            <a:ext cx="0" cy="95503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650" y="3068538"/>
            <a:ext cx="3653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配置 — 身份与团队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4650" y="3274814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.claude/identity.json · team/*.json · enterprise/controls.md · homunculus/instincts/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600" y="4010769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0EEDA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8650" y="4010769"/>
            <a:ext cx="0" cy="955030"/>
          </a:xfrm>
          <a:prstGeom prst="line">
            <a:avLst/>
          </a:prstGeom>
          <a:noFill/>
          <a:ln w="38100">
            <a:solidFill>
              <a:srgbClr val="0EED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650" y="4086969"/>
            <a:ext cx="3653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Hooks ★ — 运行时生命周期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4650" y="4312295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 PreToolUse（gateguard-fact-force / governance-capture / mcp-health-check 等） · Post · SessionStart · PreCompact · ECC_HOOK_PROFILE 三档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0850" y="955625"/>
            <a:ext cx="3873550" cy="954881"/>
          </a:xfrm>
          <a:prstGeom prst="roundRect">
            <a:avLst>
              <a:gd name="adj" fmla="val 3990"/>
            </a:avLst>
          </a:prstGeom>
          <a:solidFill>
            <a:srgbClr val="FF99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79900" y="955625"/>
            <a:ext cx="0" cy="954881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5901" y="1031825"/>
            <a:ext cx="3653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Capability ★ — 能力主体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1257151"/>
            <a:ext cx="3653180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Subagents（planner / code-reviewer × 9 lang / build-resolver × 8 / tdd-guide / loop-operator / harness-optimizer） · 183 Skills · 6 MCP（github/context7/exa/memory/playwright/seq-thinking）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0850" y="1973907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79900" y="1973907"/>
            <a:ext cx="0" cy="95503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5901" y="2050107"/>
            <a:ext cx="3653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规则 — 多语言规范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5901" y="2256383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common/（10 文件：agents/code-review/git-workflow/security/testing 等） + 15 语言专项目录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0850" y="2992338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BC007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9900" y="2992338"/>
            <a:ext cx="0" cy="955030"/>
          </a:xfrm>
          <a:prstGeom prst="line">
            <a:avLst/>
          </a:prstGeom>
          <a:noFill/>
          <a:ln w="38100">
            <a:solidFill>
              <a:srgbClr val="BC00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068538"/>
            <a:ext cx="3653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治理 ★ — 合规与自省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5901" y="3293864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enterprise/controls.md（access + audit allowlist） · governance-capture hook（secrets/policy 自动归档） · homunculus/instincts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0850" y="4010769"/>
            <a:ext cx="3873550" cy="955030"/>
          </a:xfrm>
          <a:prstGeom prst="roundRect">
            <a:avLst>
              <a:gd name="adj" fmla="val 398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79900" y="4010769"/>
            <a:ext cx="0" cy="95503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5901" y="4086969"/>
            <a:ext cx="3653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 脚本 — 自动化基础设施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5901" y="4293245"/>
            <a:ext cx="36531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Node/Shell · ecc.js CLI · install-plan/apply · orchestrate-worktrees · harness-audit · sync-ecc-to-codex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949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728" y="1125736"/>
            <a:ext cx="68003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下一步：从 5 分钟 demo 到完整落地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1" y="1900386"/>
            <a:ext cx="1015901" cy="38100"/>
          </a:xfrm>
          <a:prstGeom prst="rect">
            <a:avLst/>
          </a:prstGeom>
          <a:solidFill>
            <a:srgbClr val="0EE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71728" y="2192387"/>
            <a:ext cx="68003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三件套上线 → Cookbook 渐进 → ECC 深挖参考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71728" y="2662238"/>
            <a:ext cx="68003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改 openspec/AGENTS.md 加 5 步任务约定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1728" y="2922538"/>
            <a:ext cx="68003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装 .claude/agents/test-evaluator.md subagent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1728" y="3182838"/>
            <a:ext cx="68003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npm i stryker + 一行 config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1728" y="3620988"/>
            <a:ext cx="6800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Yunfei Lu · AWS Solutions Architect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1728" y="3814614"/>
            <a:ext cx="68003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luyunfei330@gmail.com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0EED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Yunfei Lu (AWS) × Zeekr · 2026-04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E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× ZEEKR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822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智能助手团队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SDD Workshop — Zeekr</dc:title>
  <dc:subject>PptxGenJS Presentation</dc:subject>
  <dc:creator>Yunfei Lu</dc:creator>
  <cp:lastModifiedBy>Yunfei Lu</cp:lastModifiedBy>
  <cp:revision>1</cp:revision>
  <dcterms:created xsi:type="dcterms:W3CDTF">2026-04-20T03:38:06Z</dcterms:created>
  <dcterms:modified xsi:type="dcterms:W3CDTF">2026-04-20T03:38:06Z</dcterms:modified>
</cp:coreProperties>
</file>